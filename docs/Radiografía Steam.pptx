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05733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777240" cy="777240"/>
          </a:xfrm>
          <a:prstGeom prst="ellipse">
            <a:avLst/>
          </a:prstGeom>
          <a:solidFill>
            <a:srgbClr val="2A475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3968" y="612648"/>
            <a:ext cx="466344" cy="46634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Radiografía de Steam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8308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AE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 de publicación y recepción de videojuegos (2014 a 2024)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606040"/>
            <a:ext cx="6492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problema.  </a:t>
            </a:r>
            <a:r>
              <a:rPr lang="en-US" sz="1350" dirty="0">
                <a:solidFill>
                  <a:srgbClr val="D3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es la principal plataforma de videojuegos para PC. El volumen de lanzamientos creció hasta saturar el mercado: la mayoría de los títulos recibe poca visibilidad y muy pocas reseñas.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88620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importa.  </a:t>
            </a:r>
            <a:r>
              <a:rPr lang="en-US" sz="1350" dirty="0">
                <a:solidFill>
                  <a:srgbClr val="D3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qué características se asocian a una mejor recepción apoya decisiones de precio, localización y diseño. Además, es un fenómeno con datos públicos ricos en variables numéricas, categóricas y temporales, ideal para visualizar.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635240" y="2606040"/>
            <a:ext cx="4023360" cy="1234440"/>
          </a:xfrm>
          <a:prstGeom prst="roundRect">
            <a:avLst>
              <a:gd name="adj" fmla="val 7407"/>
            </a:avLst>
          </a:prstGeom>
          <a:solidFill>
            <a:srgbClr val="2A475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63840" y="2743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66C0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140.000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3383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juegos en el catálogo analizable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635240" y="3977640"/>
            <a:ext cx="4023360" cy="1234440"/>
          </a:xfrm>
          <a:prstGeom prst="roundRect">
            <a:avLst>
              <a:gd name="adj" fmla="val 7407"/>
            </a:avLst>
          </a:prstGeom>
          <a:solidFill>
            <a:srgbClr val="2A475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63840" y="4114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66C0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+ 10.000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4754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lanzamientos nuevos por año (periodo reciente)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 Maximiliano Bono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6C0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32588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8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 y alcance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1091672" cy="1371600"/>
          </a:xfrm>
          <a:prstGeom prst="roundRect">
            <a:avLst>
              <a:gd name="adj" fmla="val 5333"/>
            </a:avLst>
          </a:prstGeom>
          <a:solidFill>
            <a:srgbClr val="EAF3F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1C6EA4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185806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48132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C6E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principal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1755648"/>
            <a:ext cx="9921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relacionan las características de un juego en Steam (género, precio, idiomas, soporte multiplataforma y funcionalidades comunitarias) con su recepción y el compromiso de los jugadores, en los títulos publicados entre 2014 y 2024?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2926080"/>
            <a:ext cx="3483864" cy="1325880"/>
          </a:xfrm>
          <a:prstGeom prst="roundRect">
            <a:avLst>
              <a:gd name="adj" fmla="val 5517"/>
            </a:avLst>
          </a:prstGeom>
          <a:solidFill>
            <a:srgbClr val="F4F6F9"/>
          </a:solidFill>
          <a:ln w="12700">
            <a:solidFill>
              <a:srgbClr val="E1E8EF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1546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" y="358444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Fenómeno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858768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 y compromiso de los jugadores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352544" y="2926080"/>
            <a:ext cx="3483864" cy="1325880"/>
          </a:xfrm>
          <a:prstGeom prst="roundRect">
            <a:avLst>
              <a:gd name="adj" fmla="val 5517"/>
            </a:avLst>
          </a:prstGeom>
          <a:solidFill>
            <a:srgbClr val="F4F6F9"/>
          </a:solidFill>
          <a:ln w="12700">
            <a:solidFill>
              <a:srgbClr val="E1E8EF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1144" y="315468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81144" y="358444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de observación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4581144" y="3858768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juego publicado (un AppID)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156448" y="2926080"/>
            <a:ext cx="3483864" cy="1325880"/>
          </a:xfrm>
          <a:prstGeom prst="roundRect">
            <a:avLst>
              <a:gd name="adj" fmla="val 5517"/>
            </a:avLst>
          </a:prstGeom>
          <a:solidFill>
            <a:srgbClr val="F4F6F9"/>
          </a:solidFill>
          <a:ln w="12700">
            <a:solidFill>
              <a:srgbClr val="E1E8EF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5048" y="315468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385048" y="358444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Población y contexto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8385048" y="3858768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Steam, con umbral mínimo de reseñas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548640" y="4434840"/>
            <a:ext cx="3483864" cy="1325880"/>
          </a:xfrm>
          <a:prstGeom prst="roundRect">
            <a:avLst>
              <a:gd name="adj" fmla="val 5517"/>
            </a:avLst>
          </a:prstGeom>
          <a:solidFill>
            <a:srgbClr val="F4F6F9"/>
          </a:solidFill>
          <a:ln w="12700">
            <a:solidFill>
              <a:srgbClr val="E1E8EF"/>
            </a:solidFill>
            <a:prstDash val="solid"/>
          </a:ln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663440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77240" y="509320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Periodo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5367528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Títulos publicados entre 2014 y 2024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4352544" y="4434840"/>
            <a:ext cx="3483864" cy="1325880"/>
          </a:xfrm>
          <a:prstGeom prst="roundRect">
            <a:avLst>
              <a:gd name="adj" fmla="val 5517"/>
            </a:avLst>
          </a:prstGeom>
          <a:solidFill>
            <a:srgbClr val="F4F6F9"/>
          </a:solidFill>
          <a:ln w="12700">
            <a:solidFill>
              <a:srgbClr val="E1E8EF"/>
            </a:solidFill>
            <a:prstDash val="solid"/>
          </a:ln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81144" y="4663440"/>
            <a:ext cx="411480" cy="4114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581144" y="509320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alcance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4581144" y="5367528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Ventas reales, texto de reseñas, geografía</a:t>
            </a:r>
            <a:endParaRPr lang="en-US" sz="1100" dirty="0"/>
          </a:p>
        </p:txBody>
      </p:sp>
      <p:sp>
        <p:nvSpPr>
          <p:cNvPr id="30" name="Text 22"/>
          <p:cNvSpPr txBox="1"/>
          <p:nvPr/>
        </p:nvSpPr>
        <p:spPr>
          <a:xfrm>
            <a:off x="8385048" y="4617720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31" name="Text 23"/>
          <p:cNvSpPr txBox="1"/>
          <p:nvPr/>
        </p:nvSpPr>
        <p:spPr>
          <a:xfrm>
            <a:off x="8385048" y="4937760"/>
            <a:ext cx="3026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concreto + medible + visualizable + abordable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6C0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32588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8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Estructura X, Y y 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66160" cy="3794760"/>
          </a:xfrm>
          <a:prstGeom prst="roundRect">
            <a:avLst>
              <a:gd name="adj" fmla="val 2051"/>
            </a:avLst>
          </a:prstGeom>
          <a:solidFill>
            <a:srgbClr val="F4F6F9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83080"/>
            <a:ext cx="777240" cy="777240"/>
          </a:xfrm>
          <a:prstGeom prst="ellipse">
            <a:avLst/>
          </a:prstGeom>
          <a:solidFill>
            <a:srgbClr val="1C6EA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37944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B28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Información disponible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Género y precio</a:t>
            </a:r>
            <a:endParaRPr lang="en-US" sz="12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Idiomas soportados</a:t>
            </a:r>
            <a:endParaRPr lang="en-US" sz="12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Windows / Mac / Linux</a:t>
            </a:r>
            <a:endParaRPr lang="en-US" sz="12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Comunidad: multijugador, Workshop</a:t>
            </a:r>
            <a:endParaRPr lang="en-US" sz="12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DLC y fecha de lanzamiento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97680" y="1508760"/>
            <a:ext cx="3566160" cy="3794760"/>
          </a:xfrm>
          <a:prstGeom prst="roundRect">
            <a:avLst>
              <a:gd name="adj" fmla="val 2051"/>
            </a:avLst>
          </a:prstGeom>
          <a:solidFill>
            <a:srgbClr val="F4F6F9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1783080"/>
            <a:ext cx="777240" cy="777240"/>
          </a:xfrm>
          <a:prstGeom prst="ellipse">
            <a:avLst/>
          </a:prstGeom>
          <a:solidFill>
            <a:srgbClr val="1C6EA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0" y="1837944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743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B28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o fenómeno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38328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Proporción de reseñas positivas</a:t>
            </a:r>
            <a:endParaRPr lang="en-US" sz="12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juego mediano (compromiso)</a:t>
            </a:r>
            <a:endParaRPr lang="en-US" sz="12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 de reseñas (popularidad)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508760"/>
            <a:ext cx="3566160" cy="3794760"/>
          </a:xfrm>
          <a:prstGeom prst="roundRect">
            <a:avLst>
              <a:gd name="adj" fmla="val 2051"/>
            </a:avLst>
          </a:prstGeom>
          <a:solidFill>
            <a:srgbClr val="F4F6F9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1783080"/>
            <a:ext cx="777240" cy="777240"/>
          </a:xfrm>
          <a:prstGeom prst="ellipse">
            <a:avLst/>
          </a:prstGeom>
          <a:solidFill>
            <a:srgbClr val="1C6EA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1837944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743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B28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 temporal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38328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Títulos publicados entre 2014 y 2024</a:t>
            </a:r>
            <a:endParaRPr lang="en-US" sz="12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Delimita el periodo de análisis</a:t>
            </a:r>
            <a:endParaRPr lang="en-US" sz="12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comparar por año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321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componentes forman la pregunta: cómo se asocian las características del juego (X) con su recepción (Y) dentro del periodo definido (T).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6C0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32588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8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y narrativa inicial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C6E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y cobertura</a:t>
            </a:r>
            <a:endParaRPr lang="en-US" sz="1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56232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8288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 </a:t>
            </a: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Games Dataset (Fronkon Games), API de Steam + SteamSpy</a:t>
            </a:r>
            <a:endParaRPr lang="en-US" sz="12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542032"/>
            <a:ext cx="365760" cy="365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25146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Registros:  </a:t>
            </a: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140.000 juegos, un juego por fila</a:t>
            </a:r>
            <a:endParaRPr lang="en-US" sz="12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227832"/>
            <a:ext cx="365760" cy="365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51560" y="32004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Cobertura:  </a:t>
            </a: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Steam; foco en 2014 a 2024</a:t>
            </a:r>
            <a:endParaRPr lang="en-US" sz="12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913632"/>
            <a:ext cx="365760" cy="36576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051560" y="38862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Variables:  </a:t>
            </a: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Numéricas, categóricas, temporales y booleanas</a:t>
            </a:r>
            <a:endParaRPr lang="en-US" sz="12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599432"/>
            <a:ext cx="365760" cy="36576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51560" y="45720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Licencia:  </a:t>
            </a: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del scraper bajo licencia MIT</a:t>
            </a:r>
            <a:endParaRPr lang="en-US" sz="1250" dirty="0"/>
          </a:p>
        </p:txBody>
      </p:sp>
      <p:sp>
        <p:nvSpPr>
          <p:cNvPr id="15" name="Shape 8"/>
          <p:cNvSpPr/>
          <p:nvPr/>
        </p:nvSpPr>
        <p:spPr>
          <a:xfrm>
            <a:off x="548640" y="5257800"/>
            <a:ext cx="5212080" cy="960120"/>
          </a:xfrm>
          <a:prstGeom prst="roundRect">
            <a:avLst>
              <a:gd name="adj" fmla="val 7619"/>
            </a:avLst>
          </a:prstGeom>
          <a:solidFill>
            <a:srgbClr val="EAF3FA"/>
          </a:solidFill>
          <a:ln/>
        </p:spPr>
      </p:sp>
      <p:sp>
        <p:nvSpPr>
          <p:cNvPr id="16" name="Text 9"/>
          <p:cNvSpPr txBox="1"/>
          <p:nvPr/>
        </p:nvSpPr>
        <p:spPr>
          <a:xfrm>
            <a:off x="731520" y="534924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1C6E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historia podemos explorar? </a:t>
            </a: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las decisiones de publicación de un juego se relacionan con la respuesta de los jugadores.</a:t>
            </a:r>
            <a:endParaRPr lang="en-US" sz="1200" dirty="0"/>
          </a:p>
        </p:txBody>
      </p:sp>
      <p:sp>
        <p:nvSpPr>
          <p:cNvPr id="17" name="Text 10"/>
          <p:cNvSpPr txBox="1"/>
          <p:nvPr/>
        </p:nvSpPr>
        <p:spPr>
          <a:xfrm>
            <a:off x="6126480" y="1417320"/>
            <a:ext cx="5513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C6E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de estructura de una fila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783080"/>
          <a:ext cx="5513832" cy="2688336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8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Ejemplo (ilustrativo)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8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release_date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6EA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2018-01-25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(USD)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6EA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19.99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6EA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Action, Indie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supported_languages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6EA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 idiomas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/ negative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6EA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4200 / 180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median_playtime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6EA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320 min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9" name="Text 11"/>
          <p:cNvSpPr txBox="1"/>
          <p:nvPr/>
        </p:nvSpPr>
        <p:spPr>
          <a:xfrm>
            <a:off x="6126480" y="4617720"/>
            <a:ext cx="5513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6C0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32588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8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Pregunta, datos y potencial visual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C6E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entre la pregunta y los datos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48640" cy="548640"/>
          </a:xfrm>
          <a:prstGeom prst="ellipse">
            <a:avLst/>
          </a:prstGeom>
          <a:solidFill>
            <a:srgbClr val="1C6EA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901952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87452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Columnas: género, precio, idiomas, sistema operativo, comunidad, DLC y fecha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548640" cy="548640"/>
          </a:xfrm>
          <a:prstGeom prst="ellipse">
            <a:avLst/>
          </a:prstGeom>
          <a:solidFill>
            <a:srgbClr val="1C6EA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07792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88036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Fenómeno: proporción de reseñas positivas, tiempo de juego y volumen de reseñas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886200"/>
            <a:ext cx="548640" cy="548640"/>
          </a:xfrm>
          <a:prstGeom prst="ellipse">
            <a:avLst/>
          </a:prstGeom>
          <a:solidFill>
            <a:srgbClr val="1C6EA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913632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aparece: fecha de lanzamiento, acotada a 2014 a 2024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1417320"/>
            <a:ext cx="5513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C6E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 de visualización</a:t>
            </a:r>
            <a:endParaRPr lang="en-US" sz="120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892808"/>
            <a:ext cx="365760" cy="36576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629400" y="187452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Lanzamientos por año (tendencia temporal)</a:t>
            </a:r>
            <a:endParaRPr lang="en-US" sz="125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487168"/>
            <a:ext cx="365760" cy="36576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629400" y="24688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 por género (comparación de grupos)</a:t>
            </a:r>
            <a:endParaRPr lang="en-US" sz="125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081528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629400" y="306324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frente a recepción (relación numérica)</a:t>
            </a:r>
            <a:endParaRPr lang="en-US" sz="125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3675888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629400" y="365760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 (multijugador o Workshop) frente al compromiso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6126480" y="4343400"/>
            <a:ext cx="5513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6172200" y="4709160"/>
            <a:ext cx="5422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métricas acumuladas favorecen a los juegos más antiguos.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requiere un umbral mínimo de reseñas para robustez.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777240" cy="777240"/>
          </a:xfrm>
          <a:prstGeom prst="ellipse">
            <a:avLst/>
          </a:prstGeom>
          <a:solidFill>
            <a:srgbClr val="2A475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3968" y="612648"/>
            <a:ext cx="466344" cy="46634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y organización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2A475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205740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proyecto-visualizacion/</a:t>
            </a:r>
            <a:endParaRPr lang="en-US" sz="13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endParaRPr lang="en-US" sz="13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data/</a:t>
            </a:r>
            <a:endParaRPr lang="en-US" sz="13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|-- raw/</a:t>
            </a:r>
            <a:endParaRPr lang="en-US" sz="13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'-- processed/</a:t>
            </a:r>
            <a:endParaRPr lang="en-US" sz="13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notebooks/</a:t>
            </a:r>
            <a:endParaRPr lang="en-US" sz="13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'-- 01_exploracion.ipynb</a:t>
            </a:r>
            <a:endParaRPr lang="en-US" sz="13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src/</a:t>
            </a:r>
            <a:endParaRPr lang="en-US" sz="13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figures/</a:t>
            </a:r>
            <a:endParaRPr lang="en-US" sz="13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app/</a:t>
            </a:r>
            <a:endParaRPr lang="en-US" sz="13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docs/</a:t>
            </a:r>
            <a:endParaRPr lang="en-US" sz="13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README.md</a:t>
            </a:r>
            <a:endParaRPr lang="en-US" sz="13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'-- .gitignore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0" y="1828800"/>
            <a:ext cx="5239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inicial incluye</a:t>
            </a:r>
            <a:endParaRPr lang="en-US" sz="13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2304288"/>
            <a:ext cx="292608" cy="29260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12280" y="228600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e integrantes</a:t>
            </a:r>
            <a:endParaRPr lang="en-US" sz="13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2761488"/>
            <a:ext cx="292608" cy="29260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12280" y="274320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y motivación</a:t>
            </a:r>
            <a:endParaRPr lang="en-US" sz="13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3218688"/>
            <a:ext cx="292608" cy="292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12280" y="320040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inicial y alcance</a:t>
            </a:r>
            <a:endParaRPr lang="en-US" sz="13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3675888"/>
            <a:ext cx="292608" cy="292608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6812280" y="365760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y descripción de los datos</a:t>
            </a:r>
            <a:endParaRPr lang="en-US" sz="135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4133088"/>
            <a:ext cx="292608" cy="29260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812280" y="411480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del repositorio</a:t>
            </a:r>
            <a:endParaRPr lang="en-US" sz="1350" dirty="0"/>
          </a:p>
        </p:txBody>
      </p:sp>
      <p:sp>
        <p:nvSpPr>
          <p:cNvPr id="21" name="Text 13"/>
          <p:cNvSpPr txBox="1"/>
          <p:nvPr/>
        </p:nvSpPr>
        <p:spPr>
          <a:xfrm>
            <a:off x="6400800" y="4579651"/>
            <a:ext cx="5239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630</Words>
  <Application>Microsoft Office PowerPoint</Application>
  <PresentationFormat>Widescreen</PresentationFormat>
  <Paragraphs>111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Maxi Bono</cp:lastModifiedBy>
  <cp:revision>3</cp:revision>
  <dcterms:created xsi:type="dcterms:W3CDTF">2026-09-01T09:40:56Z</dcterms:created>
  <dcterms:modified xsi:type="dcterms:W3CDTF">2026-09-01T10:19:04Z</dcterms:modified>
</cp:coreProperties>
</file>