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0573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777240" cy="777240"/>
          </a:xfrm>
          <a:prstGeom prst="ellipse">
            <a:avLst/>
          </a:prstGeom>
          <a:solidFill>
            <a:srgbClr val="2A475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612648"/>
            <a:ext cx="466344" cy="4663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EIN092B VISUALIZACIÓN · PROYECTO 2026-II · AVANCE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Radiografía de Steam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830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E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 publicación y recepción de videojuegos (2014 a 2024)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06040"/>
            <a:ext cx="6492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problema.  </a:t>
            </a:r>
            <a:r>
              <a:rPr lang="en-US" sz="1350" dirty="0">
                <a:solidFill>
                  <a:srgbClr val="D3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es la principal plataforma de videojuegos para PC. El volumen de lanzamientos creció hasta saturar el mercado: la mayoría de los títulos recibe poca visibilidad y muy pocas reseñas.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8620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importa.  </a:t>
            </a:r>
            <a:r>
              <a:rPr lang="en-US" sz="1350" dirty="0">
                <a:solidFill>
                  <a:srgbClr val="D3DE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qué características se asocian a una mejor recepción apoya decisiones de precio, localización y diseño. Además, es un fenómeno con datos públicos ricos en variables numéricas, categóricas y temporales, ideal para visualizar.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635240" y="260604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2A475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63840" y="2743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140.000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3383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juegos en el catálogo analizable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35240" y="3977640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2A475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63840" y="41148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+ 10.000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E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lanzamientos nuevos por año (periodo reciente)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 Maximiliano Bono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y alcance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EAF3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18580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48132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principal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755648"/>
            <a:ext cx="9921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relacionan las características de un juego en Steam (género, precio, idiomas, soporte multiplataforma y funcionalidades comunitarias) con su recepción y el compromiso de los jugadores, en los títulos publicados entre 2014 y 2024?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546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35844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Fenómeno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5876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y compromiso de los jugadores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52544" y="292608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144" y="31546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81144" y="35844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observación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4581144" y="385876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juego publicado (un AppID)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156448" y="292608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5048" y="315468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85048" y="35844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y contexto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8385048" y="385876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Steam, con umbral mínimo de reseñas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48640" y="443484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66344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77240" y="50932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Periodo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536752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publicados entre 2014 y 2024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352544" y="443484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466344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81144" y="509320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alcance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81144" y="5367528"/>
            <a:ext cx="3026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reales, texto de reseñas, geografía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56448" y="4434840"/>
            <a:ext cx="3483864" cy="1325880"/>
          </a:xfrm>
          <a:prstGeom prst="roundRect">
            <a:avLst>
              <a:gd name="adj" fmla="val 5517"/>
            </a:avLst>
          </a:prstGeom>
          <a:solidFill>
            <a:srgbClr val="1B2838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8385048" y="4617720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buen alcance es: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8385048" y="4937760"/>
            <a:ext cx="30266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concreto + medible + visualizable + abordable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X, Y y 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777240" cy="7772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3794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disponible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Género y precio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Idiomas soportados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Windows / Mac / Linux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Comunidad: multijugador, Workshop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DLC y fecha de lanzamiento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50876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783080"/>
            <a:ext cx="777240" cy="7772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183794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o fenómeno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3832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Proporción de reseñas positivas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juego mediano (compromiso)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Volumen de reseñas (popularidad)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50876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F4F6F9"/>
          </a:solidFill>
          <a:ln w="12700">
            <a:solidFill>
              <a:srgbClr val="E1E8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783080"/>
            <a:ext cx="777240" cy="7772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837944"/>
            <a:ext cx="777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743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temporal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38328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publicados entre 2014 y 2024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Delimita el periodo de análisis</a:t>
            </a:r>
            <a:endParaRPr lang="en-US" sz="1250" dirty="0"/>
          </a:p>
          <a:p>
            <a:pPr marL="342900" indent="-3429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comparar por año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componentes forman la pregunta: cómo se asocian las características del juego (X) con su recepción (Y) dentro del periodo definido (T).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narrativa inicial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y cobertura</a:t>
            </a:r>
            <a:endParaRPr lang="en-US" sz="1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32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8288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 Games Dataset (Fronkon Games), API de Steam + SteamSpy</a:t>
            </a:r>
            <a:endParaRPr lang="en-US" sz="12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542032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25146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140.000 juegos, un juego por fila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27832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51560" y="32004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Steam; foco en 2014 a 2024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913632"/>
            <a:ext cx="365760" cy="3657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051560" y="3886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Numéricas, categóricas, temporales y booleanas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4599432"/>
            <a:ext cx="365760" cy="36576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051560" y="45720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Licencia:  </a:t>
            </a:r>
            <a:r>
              <a:rPr lang="en-US" sz="12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scraper bajo licencia MIT</a:t>
            </a:r>
            <a:endParaRPr lang="en-US" sz="1250" dirty="0"/>
          </a:p>
        </p:txBody>
      </p:sp>
      <p:sp>
        <p:nvSpPr>
          <p:cNvPr id="15" name="Shape 8"/>
          <p:cNvSpPr/>
          <p:nvPr/>
        </p:nvSpPr>
        <p:spPr>
          <a:xfrm>
            <a:off x="548640" y="5257800"/>
            <a:ext cx="5212080" cy="960120"/>
          </a:xfrm>
          <a:prstGeom prst="roundRect">
            <a:avLst>
              <a:gd name="adj" fmla="val 7619"/>
            </a:avLst>
          </a:prstGeom>
          <a:solidFill>
            <a:srgbClr val="EAF3FA"/>
          </a:solidFill>
          <a:ln/>
        </p:spPr>
      </p:sp>
      <p:sp>
        <p:nvSpPr>
          <p:cNvPr id="16" name="Text 9"/>
          <p:cNvSpPr txBox="1"/>
          <p:nvPr/>
        </p:nvSpPr>
        <p:spPr>
          <a:xfrm>
            <a:off x="731520" y="534924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historia podemos explorar? </a:t>
            </a: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las decisiones de publicación de un juego se relacionan con la respuesta de los jugadores.</a:t>
            </a:r>
            <a:endParaRPr lang="en-US" sz="1200" dirty="0"/>
          </a:p>
        </p:txBody>
      </p:sp>
      <p:sp>
        <p:nvSpPr>
          <p:cNvPr id="17" name="Text 10"/>
          <p:cNvSpPr txBox="1"/>
          <p:nvPr/>
        </p:nvSpPr>
        <p:spPr>
          <a:xfrm>
            <a:off x="6126480" y="1417320"/>
            <a:ext cx="5513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estructura de una fila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783080"/>
          <a:ext cx="5513832" cy="268833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 (ilustrativo)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8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release_date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2018-01-25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(USD)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19.99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Action, Indie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supported_languages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idiomas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/ negative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4200 / 180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median_playtime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6EA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320 min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8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 11"/>
          <p:cNvSpPr txBox="1"/>
          <p:nvPr/>
        </p:nvSpPr>
        <p:spPr>
          <a:xfrm>
            <a:off x="6126480" y="4617720"/>
            <a:ext cx="5513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valores son ilustrativos del formato, no corresponden a un juego específico.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6C0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8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Pregunta, datos y potencial visual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entre la pregunta y los datos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0195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87452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Columnas: género, precio, idiomas, sistema operativo, comunidad, DLC y fecha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0779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8036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Fenómeno: proporción de reseñas positivas, tiempo de juego y volumen de reseñas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1C6EA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91363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aparece: fecha de lanzamiento, acotada a 2014 a 2024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1417320"/>
            <a:ext cx="5513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6E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 de visualización</a:t>
            </a:r>
            <a:endParaRPr lang="en-US" sz="120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92808"/>
            <a:ext cx="365760" cy="3657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6629400" y="187452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Lanzamientos por año (tendencia temporal)</a:t>
            </a:r>
            <a:endParaRPr lang="en-US" sz="12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487168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629400" y="246888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 por género (comparación de grupos)</a:t>
            </a:r>
            <a:endParaRPr lang="en-US" sz="125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08152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629400" y="306324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frente a recepción (relación numérica)</a:t>
            </a:r>
            <a:endParaRPr lang="en-US" sz="125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67588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29400" y="3657600"/>
            <a:ext cx="5010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 (multijugador o Workshop) frente al compromiso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6126480" y="4343400"/>
            <a:ext cx="5513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6172200" y="4709160"/>
            <a:ext cx="5422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métricas acumuladas favorecen a los juegos más antiguos.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requiere un umbral mínimo de reseñas para robustez.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018520" y="457200"/>
            <a:ext cx="777240" cy="777240"/>
          </a:xfrm>
          <a:prstGeom prst="ellipse">
            <a:avLst/>
          </a:prstGeom>
          <a:solidFill>
            <a:srgbClr val="2A475E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3968" y="612648"/>
            <a:ext cx="466344" cy="4663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1 · ORGANIZACIÓN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y organización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2A475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05740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proyecto-visualizacion/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data/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|-- raw/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'-- processed/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notebooks/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  '-- 01_exploracion.ipynb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src/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figures/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app/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docs/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 README.md</a:t>
            </a:r>
            <a:endParaRPr lang="en-US" sz="13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AEC7D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'-- .gitignore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1828800"/>
            <a:ext cx="5239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6C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inicial incluye</a:t>
            </a:r>
            <a:endParaRPr lang="en-US" sz="13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304288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12280" y="22860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e integrantes</a:t>
            </a:r>
            <a:endParaRPr lang="en-US" sz="13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2761488"/>
            <a:ext cx="292608" cy="29260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12280" y="27432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y motivación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218688"/>
            <a:ext cx="292608" cy="292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12280" y="32004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inicial y alcance</a:t>
            </a:r>
            <a:endParaRPr lang="en-US" sz="13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3675888"/>
            <a:ext cx="292608" cy="292608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812280" y="36576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y descripción de los datos</a:t>
            </a:r>
            <a:endParaRPr lang="en-US" sz="13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133088"/>
            <a:ext cx="292608" cy="292608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812280" y="4114800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4EC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del repositorio</a:t>
            </a:r>
            <a:endParaRPr lang="en-US" sz="1350" dirty="0"/>
          </a:p>
        </p:txBody>
      </p:sp>
      <p:sp>
        <p:nvSpPr>
          <p:cNvPr id="19" name="Shape 11"/>
          <p:cNvSpPr/>
          <p:nvPr/>
        </p:nvSpPr>
        <p:spPr>
          <a:xfrm>
            <a:off x="6400800" y="4709160"/>
            <a:ext cx="5239512" cy="640080"/>
          </a:xfrm>
          <a:prstGeom prst="roundRect">
            <a:avLst>
              <a:gd name="adj" fmla="val 11429"/>
            </a:avLst>
          </a:prstGeom>
          <a:solidFill>
            <a:srgbClr val="66C0F4"/>
          </a:solidFill>
          <a:ln/>
        </p:spPr>
      </p:sp>
      <p:sp>
        <p:nvSpPr>
          <p:cNvPr id="20" name="Text 12"/>
          <p:cNvSpPr txBox="1"/>
          <p:nvPr/>
        </p:nvSpPr>
        <p:spPr>
          <a:xfrm>
            <a:off x="6400800" y="4709160"/>
            <a:ext cx="5239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ordenada + documentada + reproducible</a:t>
            </a:r>
            <a:endParaRPr lang="en-US" sz="1500" dirty="0"/>
          </a:p>
        </p:txBody>
      </p:sp>
      <p:sp>
        <p:nvSpPr>
          <p:cNvPr id="21" name="Text 13"/>
          <p:cNvSpPr txBox="1"/>
          <p:nvPr/>
        </p:nvSpPr>
        <p:spPr>
          <a:xfrm>
            <a:off x="6400800" y="5532120"/>
            <a:ext cx="5239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CA0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no se versionan por peso; el README indica cómo obtenerlos.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680</Words>
  <Application>Microsoft Office PowerPoint</Application>
  <PresentationFormat>Widescreen</PresentationFormat>
  <Paragraphs>117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Maxi Bono</cp:lastModifiedBy>
  <cp:revision>2</cp:revision>
  <dcterms:created xsi:type="dcterms:W3CDTF">2026-09-01T09:40:56Z</dcterms:created>
  <dcterms:modified xsi:type="dcterms:W3CDTF">2026-09-01T09:47:46Z</dcterms:modified>
</cp:coreProperties>
</file>